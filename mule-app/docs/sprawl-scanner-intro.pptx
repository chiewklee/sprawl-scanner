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96FF"/>
                </a:solidFill>
                <a:latin typeface="Salesforce Sans"/>
              </a:rPr>
              <a:t>WHY WE BUILT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Salesforce Sans"/>
              </a:rPr>
              <a:t>Everyone sells a catalog. Nobody finds the sprawl.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9C9"/>
                </a:solidFill>
                <a:latin typeface="Salesforce Sans"/>
              </a:rPr>
              <a:t>As agents, MCP servers and APIs multiply, the same capability gets built again and again, and nothing flags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630936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82296" cy="278892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176D3"/>
                </a:solidFill>
                <a:latin typeface="Salesforce Sans"/>
              </a:rP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5715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81818"/>
                </a:solidFill>
                <a:latin typeface="Salesforce Sans"/>
              </a:rPr>
              <a:t>“As you bring in thousands of agents, MCP servers and APIs, I want to hit a button that says: here’s where you have uniqueness, here’s where you have redundancy, here’s where you have gray areas.”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1818"/>
                </a:solidFill>
                <a:latin typeface="Salesforce Sans"/>
              </a:rPr>
              <a:t>Fassil Molla, KPMG</a:t>
            </a:r>
            <a:r>
              <a:rPr sz="1300" b="0" i="0">
                <a:solidFill>
                  <a:srgbClr val="747474"/>
                </a:solidFill>
                <a:latin typeface="Salesforce Sans"/>
              </a:rPr>
              <a:t>  ·  use-case session, 24 September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148840"/>
            <a:ext cx="45262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3042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176D3"/>
                </a:solidFill>
                <a:latin typeface="Salesforce Sans"/>
              </a:rPr>
              <a:t>THE GAP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724912"/>
            <a:ext cx="329184" cy="329184"/>
          </a:xfrm>
          <a:prstGeom prst="ellipse">
            <a:avLst/>
          </a:prstGeom>
          <a:solidFill>
            <a:srgbClr val="2E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alesforce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697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818"/>
                </a:solidFill>
                <a:latin typeface="Salesforce Sans"/>
              </a:rPr>
              <a:t>Registry / catalog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444"/>
                </a:solidFill>
                <a:latin typeface="Salesforce Sans"/>
              </a:rPr>
              <a:t>lists what you have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3419856"/>
            <a:ext cx="329184" cy="329184"/>
          </a:xfrm>
          <a:prstGeom prst="ellipse">
            <a:avLst/>
          </a:prstGeom>
          <a:solidFill>
            <a:srgbClr val="2E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alesforce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9242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818"/>
                </a:solidFill>
                <a:latin typeface="Salesforce Sans"/>
              </a:rPr>
              <a:t>Agent evals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444"/>
                </a:solidFill>
                <a:latin typeface="Salesforce Sans"/>
              </a:rPr>
              <a:t>grade how well one agent performs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4114800"/>
            <a:ext cx="329184" cy="329184"/>
          </a:xfrm>
          <a:prstGeom prst="ellipse">
            <a:avLst/>
          </a:prstGeom>
          <a:solidFill>
            <a:srgbClr val="EA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39" b="1">
                <a:solidFill>
                  <a:srgbClr val="FFFFFF"/>
                </a:solidFill>
                <a:latin typeface="Salesforce Sans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087368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818"/>
                </a:solidFill>
                <a:latin typeface="Salesforce Sans"/>
              </a:rPr>
              <a:t>Overlap detection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444"/>
                </a:solidFill>
                <a:latin typeface="Salesforce Sans"/>
              </a:rPr>
              <a:t>which capabilities exist more than once?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572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001E"/>
                </a:solidFill>
                <a:latin typeface="Salesforce Sans"/>
              </a:rPr>
              <a:t>Nobody offers this today.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176D3"/>
                </a:solidFill>
                <a:latin typeface="Salesforce Sans"/>
              </a:rPr>
              <a:t>WHY IT MATTERS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76672"/>
            <a:ext cx="2640330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58968"/>
            <a:ext cx="232029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81818"/>
                </a:solidFill>
                <a:latin typeface="Salesforce Sans"/>
              </a:rPr>
              <a:t>Cost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44444"/>
                </a:solidFill>
                <a:latin typeface="Salesforce Sans"/>
              </a:rPr>
              <a:t>Every duplicate is built, run, secured and maintained more than once.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1850" y="5376672"/>
            <a:ext cx="2640330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4730" y="5458968"/>
            <a:ext cx="232029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81818"/>
                </a:solidFill>
                <a:latin typeface="Salesforce Sans"/>
              </a:rPr>
              <a:t>Risk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44444"/>
                </a:solidFill>
                <a:latin typeface="Salesforce Sans"/>
              </a:rPr>
              <a:t>Five copies of a capability means five places to patch, govern and audit.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060" y="5376672"/>
            <a:ext cx="2640330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7940" y="5458968"/>
            <a:ext cx="232029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81818"/>
                </a:solidFill>
                <a:latin typeface="Salesforce Sans"/>
              </a:rPr>
              <a:t>Agent quality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44444"/>
                </a:solidFill>
                <a:latin typeface="Salesforce Sans"/>
              </a:rPr>
              <a:t>Near-identical tools make agents choose inconsistently.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8270" y="5376672"/>
            <a:ext cx="2640330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1150" y="5458968"/>
            <a:ext cx="232029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81818"/>
                </a:solidFill>
                <a:latin typeface="Salesforce Sans"/>
              </a:rPr>
              <a:t>Speed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44444"/>
                </a:solidFill>
                <a:latin typeface="Salesforce Sans"/>
              </a:rPr>
              <a:t>Reuse what exists, and check before anyone writes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47474"/>
                </a:solidFill>
                <a:latin typeface="Salesforce Sans"/>
              </a:rPr>
              <a:t>Sprawl Scanner  ·  credit to Fassil Molla (KPMG) for the 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96FF"/>
                </a:solidFill>
                <a:latin typeface="Salesforce Sans"/>
              </a:rPr>
              <a:t>SO WE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Salesforce Sans"/>
              </a:rPr>
              <a:t>One button. Three answers: unique, redundant, gray.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9C9"/>
                </a:solidFill>
                <a:latin typeface="Salesforce Sans"/>
              </a:rPr>
              <a:t>A working prototype on MuleSoft, running on CloudHub 2.0 next to the assets it scans.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304288"/>
            <a:ext cx="384048" cy="384048"/>
          </a:xfrm>
          <a:prstGeom prst="ellipse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alesforce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31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81818"/>
                </a:solidFill>
                <a:latin typeface="Salesforce Sans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16352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44444"/>
                </a:solidFill>
                <a:latin typeface="Salesforce Sans"/>
              </a:rPr>
              <a:t>Reads every API, MCP server and agent in Exchange, including live tool lists from running MCP servers.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50791" y="2688336"/>
            <a:ext cx="274320" cy="292608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304288"/>
            <a:ext cx="384048" cy="384048"/>
          </a:xfrm>
          <a:prstGeom prst="ellipse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alesforce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331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81818"/>
                </a:solidFill>
                <a:latin typeface="Salesforce Sans"/>
              </a:rPr>
              <a:t>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16352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44444"/>
                </a:solidFill>
                <a:latin typeface="Salesforce Sans"/>
              </a:rPr>
              <a:t>Breaks each asset into what it can do: API operations, MCP tools, agent skills. Flags undocumented assets.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91272" y="2688336"/>
            <a:ext cx="274320" cy="292608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21488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304288"/>
            <a:ext cx="384048" cy="384048"/>
          </a:xfrm>
          <a:prstGeom prst="ellipse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FFFFFF"/>
                </a:solidFill>
                <a:latin typeface="Salesforce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331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81818"/>
                </a:solidFill>
                <a:latin typeface="Salesforce Sans"/>
              </a:rPr>
              <a:t>Sprawl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816352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44444"/>
                </a:solidFill>
                <a:latin typeface="Salesforce Sans"/>
              </a:rPr>
              <a:t>Compares every capability with every other, by meaning. Clusters duplicates and recommends what to consolidate.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40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176D3"/>
                </a:solidFill>
                <a:latin typeface="Salesforce Sans"/>
              </a:rPr>
              <a:t>HOW IT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3276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818"/>
                </a:solidFill>
                <a:latin typeface="Salesforce Sans"/>
              </a:rPr>
              <a:t>Meaning, not words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4444"/>
                </a:solidFill>
                <a:latin typeface="Salesforce Sans"/>
              </a:rPr>
              <a:t>Gemini embeddings: “look up customer” matches “get account”.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8160" y="4114800"/>
            <a:ext cx="3276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818"/>
                </a:solidFill>
                <a:latin typeface="Salesforce Sans"/>
              </a:rPr>
              <a:t>Judge for close calls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4444"/>
                </a:solidFill>
                <a:latin typeface="Salesforce Sans"/>
              </a:rPr>
              <a:t>A Gemini model rules duplicate, overlap or distinct, with a reason.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9080" y="4114800"/>
            <a:ext cx="3276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818"/>
                </a:solidFill>
                <a:latin typeface="Salesforce Sans"/>
              </a:rPr>
              <a:t>Knows good patterns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4444"/>
                </a:solidFill>
                <a:latin typeface="Salesforce Sans"/>
              </a:rPr>
              <a:t>MCP-enabling an API, or an agent calling its tools, is expected, not sprawl.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83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176D3"/>
                </a:solidFill>
                <a:latin typeface="Salesforce Sans"/>
              </a:rPr>
              <a:t>FIRST RUN ON OUR EXCHANGE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16168"/>
            <a:ext cx="14858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assets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7732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10612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197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0612" y="5916168"/>
            <a:ext cx="14858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6824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9704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73</a:t>
            </a:r>
          </a:p>
        </p:txBody>
      </p:sp>
      <p:sp>
        <p:nvSpPr>
          <p:cNvPr id="36" name="Oval 35"/>
          <p:cNvSpPr/>
          <p:nvPr/>
        </p:nvSpPr>
        <p:spPr>
          <a:xfrm>
            <a:off x="4489704" y="5943600"/>
            <a:ext cx="201168" cy="201168"/>
          </a:xfrm>
          <a:prstGeom prst="ellipse">
            <a:avLst/>
          </a:prstGeom>
          <a:solidFill>
            <a:srgbClr val="EA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80" b="1">
                <a:solidFill>
                  <a:srgbClr val="FFFFFF"/>
                </a:solidFill>
                <a:latin typeface="Salesforce Sans"/>
              </a:rPr>
              <a:t>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4024" y="5916168"/>
            <a:ext cx="1211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redundant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5916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8796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49</a:t>
            </a:r>
          </a:p>
        </p:txBody>
      </p:sp>
      <p:sp>
        <p:nvSpPr>
          <p:cNvPr id="40" name="Oval 39"/>
          <p:cNvSpPr/>
          <p:nvPr/>
        </p:nvSpPr>
        <p:spPr>
          <a:xfrm>
            <a:off x="6368796" y="5943600"/>
            <a:ext cx="201168" cy="201168"/>
          </a:xfrm>
          <a:prstGeom prst="ellipse">
            <a:avLst/>
          </a:prstGeom>
          <a:solidFill>
            <a:srgbClr val="FE9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80" b="1">
                <a:solidFill>
                  <a:srgbClr val="181818"/>
                </a:solidFill>
                <a:latin typeface="Salesforce Sans"/>
              </a:rPr>
              <a:t>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3116" y="5916168"/>
            <a:ext cx="1211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gray area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75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5943600"/>
            <a:ext cx="201168" cy="201168"/>
          </a:xfrm>
          <a:prstGeom prst="ellipse">
            <a:avLst/>
          </a:prstGeom>
          <a:solidFill>
            <a:srgbClr val="2E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80" b="1">
                <a:solidFill>
                  <a:srgbClr val="FFFFFF"/>
                </a:solidFill>
                <a:latin typeface="Salesforce Sa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5916168"/>
            <a:ext cx="1211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unique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4100" y="5285232"/>
            <a:ext cx="17145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26980" y="5340096"/>
            <a:ext cx="14401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81818"/>
                </a:solidFill>
                <a:latin typeface="Salesforce Sans"/>
              </a:rPr>
              <a:t>11</a:t>
            </a:r>
          </a:p>
        </p:txBody>
      </p:sp>
      <p:sp>
        <p:nvSpPr>
          <p:cNvPr id="48" name="Oval 47"/>
          <p:cNvSpPr/>
          <p:nvPr/>
        </p:nvSpPr>
        <p:spPr>
          <a:xfrm>
            <a:off x="10126980" y="5943600"/>
            <a:ext cx="201168" cy="201168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80" b="1">
                <a:solidFill>
                  <a:srgbClr val="FFFFFF"/>
                </a:solidFill>
                <a:latin typeface="Salesforce Sans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01300" y="5916168"/>
            <a:ext cx="1211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444"/>
                </a:solidFill>
                <a:latin typeface="Salesforce Sans"/>
              </a:rPr>
              <a:t>undocumented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556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47474"/>
                </a:solidFill>
                <a:latin typeface="Salesforce Sans"/>
              </a:rPr>
              <a:t>e.g. four copies of the same golf MCP server; the PTO capability on two MCP servers; two identical SE Insights brokers  ·  credit: Fassil Molla (KPMG)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